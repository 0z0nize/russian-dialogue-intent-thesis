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+Oc63vIxmVFjFL7asiJpajyS8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8990EF-6C83-4954-AC6C-93B44E6D8572}">
  <a:tblStyle styleId="{6E8990EF-6C83-4954-AC6C-93B44E6D857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" name="Google Shape;9;p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" name="Google Shape;17;p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2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6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17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1" name="Google Shape;371;p18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19:notes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731540" y="2468880"/>
            <a:ext cx="1072619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Семантический анализ русскоязычных диалогов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для задачи распознавания намерений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1371637" y="3840480"/>
            <a:ext cx="94460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D6F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914424" y="5486400"/>
            <a:ext cx="1036042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E4F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Магистрант: Шкаровский В. С., НИУ ИТМО, ВШ ЦК / Аналитика данных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0E4F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Руководитель ВКР: Малых В. А., кандидат технических наук, доцент</a:t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0" y="6446520"/>
            <a:ext cx="121920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Санкт-Петербург, 2026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АКТУАЛЬНОСТЬ</a:t>
            </a:r>
            <a:endParaRPr b="1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777240" y="1627632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Зачем распознавать намерения в диалогах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655355" y="2684885"/>
            <a:ext cx="54864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–"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Диалоговые реплики короткие и часто неоднозначные</a:t>
            </a:r>
            <a:endParaRPr b="0" i="0" sz="1600" u="none" cap="none" strike="noStrike">
              <a:solidFill>
                <a:srgbClr val="7A0FE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–"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Важно намерение пользователя, а не отдельные слова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–"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Русскоязычных размеченных данных заметно меньше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–"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Ручной разбор обращений плохо масштабируется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Char char="–"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Нужен воспроизводимый NLP-конвейер обработки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6598955" y="2611733"/>
            <a:ext cx="4937700" cy="1874400"/>
          </a:xfrm>
          <a:prstGeom prst="roundRect">
            <a:avLst>
              <a:gd fmla="val 4878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6827555" y="2812901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«Хочу отменить заказ»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0119395" y="2886053"/>
            <a:ext cx="1234500" cy="365700"/>
          </a:xfrm>
          <a:prstGeom prst="roundRect">
            <a:avLst>
              <a:gd fmla="val 15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0119395" y="2886053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Отмена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6827555" y="3361541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«Когда придёт доставка?»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10119395" y="3434693"/>
            <a:ext cx="1234500" cy="365700"/>
          </a:xfrm>
          <a:prstGeom prst="roundRect">
            <a:avLst>
              <a:gd fmla="val 15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119395" y="3434693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Статус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827555" y="3910181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«Не приходит код в смс»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119395" y="3983333"/>
            <a:ext cx="1234500" cy="365700"/>
          </a:xfrm>
          <a:prstGeom prst="roundRect">
            <a:avLst>
              <a:gd fmla="val 15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0119395" y="3983333"/>
            <a:ext cx="123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Проблема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598955" y="4806293"/>
            <a:ext cx="1014900" cy="868800"/>
          </a:xfrm>
          <a:prstGeom prst="roundRect">
            <a:avLst>
              <a:gd fmla="val 6316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598955" y="4806293"/>
            <a:ext cx="1014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Реплика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613939" y="4806293"/>
            <a:ext cx="292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906547" y="4806293"/>
            <a:ext cx="1014900" cy="868800"/>
          </a:xfrm>
          <a:prstGeom prst="roundRect">
            <a:avLst>
              <a:gd fmla="val 6316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906547" y="4806293"/>
            <a:ext cx="1014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Смысл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921531" y="4806293"/>
            <a:ext cx="292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214139" y="4806293"/>
            <a:ext cx="1014900" cy="868800"/>
          </a:xfrm>
          <a:prstGeom prst="roundRect">
            <a:avLst>
              <a:gd fmla="val 6316" name="adj"/>
            </a:avLst>
          </a:prstGeom>
          <a:solidFill>
            <a:srgbClr val="7A0FE0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214139" y="4806293"/>
            <a:ext cx="1014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Интент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229123" y="4806293"/>
            <a:ext cx="2925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521731" y="4806293"/>
            <a:ext cx="1014900" cy="868800"/>
          </a:xfrm>
          <a:prstGeom prst="roundRect">
            <a:avLst>
              <a:gd fmla="val 6316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521731" y="4806293"/>
            <a:ext cx="1014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Действие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 И ФОКУС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Что и для чего исследуется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2286000"/>
            <a:ext cx="3429000" cy="2377440"/>
          </a:xfrm>
          <a:prstGeom prst="roundRect">
            <a:avLst>
              <a:gd fmla="val 3846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914400" y="254203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Цель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914400" y="3063240"/>
            <a:ext cx="2880360" cy="0"/>
          </a:xfrm>
          <a:prstGeom prst="straightConnector1">
            <a:avLst/>
          </a:prstGeom>
          <a:noFill/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914400" y="320040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Построить модель распознавания намерений на базе предобученных языковых моделей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343400" y="2286000"/>
            <a:ext cx="3429000" cy="2377440"/>
          </a:xfrm>
          <a:prstGeom prst="roundRect">
            <a:avLst>
              <a:gd fmla="val 3846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617720" y="254203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Объект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" name="Google Shape;58;p3"/>
          <p:cNvCxnSpPr/>
          <p:nvPr/>
        </p:nvCxnSpPr>
        <p:spPr>
          <a:xfrm>
            <a:off x="4617720" y="3063240"/>
            <a:ext cx="2880360" cy="0"/>
          </a:xfrm>
          <a:prstGeom prst="straightConnector1">
            <a:avLst/>
          </a:prstGeom>
          <a:noFill/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3"/>
          <p:cNvSpPr/>
          <p:nvPr/>
        </p:nvSpPr>
        <p:spPr>
          <a:xfrm>
            <a:off x="4617720" y="320040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Русскоязычные диалоговые тексты и реплики пользователей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046720" y="2286000"/>
            <a:ext cx="3429000" cy="2377440"/>
          </a:xfrm>
          <a:prstGeom prst="roundRect">
            <a:avLst>
              <a:gd fmla="val 3846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321040" y="254203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Предмет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8321040" y="3063240"/>
            <a:ext cx="2880360" cy="0"/>
          </a:xfrm>
          <a:prstGeom prst="straightConnector1">
            <a:avLst/>
          </a:prstGeom>
          <a:noFill/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8321040" y="3200400"/>
            <a:ext cx="2880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Методы семантического анализа и классификации намерений в диалогах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4937760"/>
            <a:ext cx="10908792" cy="1417320"/>
          </a:xfrm>
          <a:prstGeom prst="roundRect">
            <a:avLst>
              <a:gd fmla="val 5161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1005840" y="521208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D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2D6"/>
                </a:solidFill>
                <a:latin typeface="Calibri"/>
                <a:ea typeface="Calibri"/>
                <a:cs typeface="Calibri"/>
                <a:sym typeface="Calibri"/>
              </a:rPr>
              <a:t>Фокус работы 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короткие диалоговые реплики, где контекст важнее отдельных слов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B2D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B2D6"/>
                </a:solidFill>
                <a:latin typeface="Calibri"/>
                <a:ea typeface="Calibri"/>
                <a:cs typeface="Calibri"/>
                <a:sym typeface="Calibri"/>
              </a:rPr>
              <a:t>Результат   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воспроизводимый конвейер обработки диалогов и работающий прототип системы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ЗАДАЧИ ИССЛЕДОВАНИЯ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Пять последовательных шагов работы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41667" y="2814220"/>
            <a:ext cx="2064600" cy="2834700"/>
          </a:xfrm>
          <a:prstGeom prst="roundRect">
            <a:avLst>
              <a:gd fmla="val 354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70267" y="3088540"/>
            <a:ext cx="777300" cy="548700"/>
          </a:xfrm>
          <a:prstGeom prst="roundRect">
            <a:avLst>
              <a:gd fmla="val 10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70267" y="3088540"/>
            <a:ext cx="77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70267" y="3865780"/>
            <a:ext cx="160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Подготовить и проанализировать корпус русскоязычных диалогов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2852687" y="2814220"/>
            <a:ext cx="2064600" cy="2834700"/>
          </a:xfrm>
          <a:prstGeom prst="roundRect">
            <a:avLst>
              <a:gd fmla="val 354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081287" y="3088540"/>
            <a:ext cx="777300" cy="548700"/>
          </a:xfrm>
          <a:prstGeom prst="roundRect">
            <a:avLst>
              <a:gd fmla="val 10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081287" y="3088540"/>
            <a:ext cx="77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3081287" y="3865780"/>
            <a:ext cx="160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Исследовать тематическую структуру классическими NLP-методами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063706" y="2814220"/>
            <a:ext cx="2064600" cy="2834700"/>
          </a:xfrm>
          <a:prstGeom prst="roundRect">
            <a:avLst>
              <a:gd fmla="val 354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292306" y="3088540"/>
            <a:ext cx="777300" cy="548700"/>
          </a:xfrm>
          <a:prstGeom prst="roundRect">
            <a:avLst>
              <a:gd fmla="val 10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292306" y="3088540"/>
            <a:ext cx="77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292305" y="3865780"/>
            <a:ext cx="160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Сформировать постановку задачи распознавания интентов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274726" y="2814220"/>
            <a:ext cx="2064600" cy="2834700"/>
          </a:xfrm>
          <a:prstGeom prst="roundRect">
            <a:avLst>
              <a:gd fmla="val 354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503326" y="3088540"/>
            <a:ext cx="777300" cy="548700"/>
          </a:xfrm>
          <a:prstGeom prst="roundRect">
            <a:avLst>
              <a:gd fmla="val 10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503326" y="3088540"/>
            <a:ext cx="77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503326" y="3865780"/>
            <a:ext cx="160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Обучить и сравнить модели классификации намерений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485745" y="2814220"/>
            <a:ext cx="2064600" cy="2834700"/>
          </a:xfrm>
          <a:prstGeom prst="roundRect">
            <a:avLst>
              <a:gd fmla="val 354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9714345" y="3088540"/>
            <a:ext cx="777300" cy="548700"/>
          </a:xfrm>
          <a:prstGeom prst="roundRect">
            <a:avLst>
              <a:gd fmla="val 10000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9714345" y="3088540"/>
            <a:ext cx="777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714345" y="3865780"/>
            <a:ext cx="160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Реализовать веб-демо и API для практического доступа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ДАННЫЕ И ПОСТАНОВКА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Корпус DialogSum-RU и задача классификации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1521455" y="633017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0080" y="2176275"/>
            <a:ext cx="3520500" cy="1143000"/>
          </a:xfrm>
          <a:prstGeom prst="roundRect">
            <a:avLst>
              <a:gd fmla="val 6400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14400" y="2340867"/>
            <a:ext cx="297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4297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914400" y="2889507"/>
            <a:ext cx="297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реплик после дедупликации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334256" y="2176275"/>
            <a:ext cx="3520500" cy="1143000"/>
          </a:xfrm>
          <a:prstGeom prst="roundRect">
            <a:avLst>
              <a:gd fmla="val 6400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608576" y="2340867"/>
            <a:ext cx="297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3007 / 645 / 645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608576" y="2889507"/>
            <a:ext cx="297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train / val /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8028432" y="2176275"/>
            <a:ext cx="3520500" cy="1143000"/>
          </a:xfrm>
          <a:prstGeom prst="roundRect">
            <a:avLst>
              <a:gd fmla="val 6400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302752" y="2340867"/>
            <a:ext cx="29718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14 · 10 · 5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889507"/>
            <a:ext cx="297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intent · topic · coarse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0080" y="3502155"/>
            <a:ext cx="2452800" cy="86880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587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40080" y="3502155"/>
            <a:ext cx="2452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Диалог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092958" y="3502155"/>
            <a:ext cx="365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458718" y="3502155"/>
            <a:ext cx="2452800" cy="86880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587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458718" y="3502155"/>
            <a:ext cx="2452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Реплики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911596" y="3502155"/>
            <a:ext cx="365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277356" y="3502155"/>
            <a:ext cx="2452800" cy="86880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587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77356" y="3502155"/>
            <a:ext cx="2452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Нормализация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8730234" y="3502155"/>
            <a:ext cx="3657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9095994" y="3502155"/>
            <a:ext cx="2452800" cy="868800"/>
          </a:xfrm>
          <a:prstGeom prst="roundRect">
            <a:avLst>
              <a:gd fmla="val 6316" name="adj"/>
            </a:avLst>
          </a:prstGeom>
          <a:solidFill>
            <a:srgbClr val="7A0FE0"/>
          </a:solidFill>
          <a:ln cap="flat" cmpd="sng" w="15875">
            <a:solidFill>
              <a:srgbClr val="7A0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9095994" y="3502155"/>
            <a:ext cx="2452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Интент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0080" y="4462275"/>
            <a:ext cx="1090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Диалоги представлены репликами и краткими описаниями; модель работает на уровне отдельных реплик.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40080" y="5056635"/>
            <a:ext cx="10908900" cy="1188600"/>
          </a:xfrm>
          <a:prstGeom prst="roundRect">
            <a:avLst>
              <a:gd fmla="val 6154" name="adj"/>
            </a:avLst>
          </a:prstGeom>
          <a:solidFill>
            <a:srgbClr val="E9F7F1"/>
          </a:solidFill>
          <a:ln cap="flat" cmpd="sng" w="15875">
            <a:solidFill>
              <a:srgbClr val="0F7A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60120" y="5239515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A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7A55"/>
                </a:solidFill>
                <a:latin typeface="Calibri"/>
                <a:ea typeface="Calibri"/>
                <a:cs typeface="Calibri"/>
                <a:sym typeface="Calibri"/>
              </a:rPr>
              <a:t>КОНТРОЛЬ КАЧЕСТВА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60120" y="5532123"/>
            <a:ext cx="10241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Полные текстовые дубли устранены до разбиения на train/val/test: из 4722 реплик удалено 425 дублей, итоговый корпус — 4297. Повторная оценка подтвердила устойчивость результата.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NLP-КОНВЕЙЕР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От сырых диалогов до демо и API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37030" y="2176270"/>
            <a:ext cx="3383400" cy="1371600"/>
          </a:xfrm>
          <a:prstGeom prst="roundRect">
            <a:avLst>
              <a:gd fmla="val 533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65630" y="2432302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DialogSum-RU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865630" y="304495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исходные диалоги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404358" y="2176270"/>
            <a:ext cx="3383400" cy="1371600"/>
          </a:xfrm>
          <a:prstGeom prst="roundRect">
            <a:avLst>
              <a:gd fmla="val 533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632958" y="2432302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Очистка / реплики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632958" y="304495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предобработка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171686" y="2176270"/>
            <a:ext cx="3383400" cy="1371600"/>
          </a:xfrm>
          <a:prstGeom prst="roundRect">
            <a:avLst>
              <a:gd fmla="val 533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400286" y="2432302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TF-IDF · LDA · NMF · UMAP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400286" y="304495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тематический анализ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171686" y="4553710"/>
            <a:ext cx="3383400" cy="1371600"/>
          </a:xfrm>
          <a:prstGeom prst="roundRect">
            <a:avLst>
              <a:gd fmla="val 5333" name="adj"/>
            </a:avLst>
          </a:prstGeom>
          <a:solidFill>
            <a:srgbClr val="7A0FE0"/>
          </a:solidFill>
          <a:ln cap="flat" cmpd="sng" w="12700">
            <a:solidFill>
              <a:srgbClr val="7A0FE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400286" y="4809742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RuBERT intent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400286" y="542239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4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6E4F5"/>
                </a:solidFill>
                <a:latin typeface="Calibri"/>
                <a:ea typeface="Calibri"/>
                <a:cs typeface="Calibri"/>
                <a:sym typeface="Calibri"/>
              </a:rPr>
              <a:t>классификация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404358" y="4553710"/>
            <a:ext cx="3383400" cy="1371600"/>
          </a:xfrm>
          <a:prstGeom prst="roundRect">
            <a:avLst>
              <a:gd fmla="val 533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632958" y="4809742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Метрики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4632958" y="542239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оценка качества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637030" y="4553710"/>
            <a:ext cx="3383400" cy="1371600"/>
          </a:xfrm>
          <a:prstGeom prst="roundRect">
            <a:avLst>
              <a:gd fmla="val 5333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65630" y="4809742"/>
            <a:ext cx="2926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Gradio demo / API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865630" y="542239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практический доступ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3983734" y="286207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6"/>
          <p:cNvCxnSpPr/>
          <p:nvPr/>
        </p:nvCxnSpPr>
        <p:spPr>
          <a:xfrm>
            <a:off x="7751062" y="286207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6"/>
          <p:cNvCxnSpPr/>
          <p:nvPr/>
        </p:nvCxnSpPr>
        <p:spPr>
          <a:xfrm>
            <a:off x="9863326" y="3822190"/>
            <a:ext cx="0" cy="457200"/>
          </a:xfrm>
          <a:prstGeom prst="straightConnector1">
            <a:avLst/>
          </a:prstGeom>
          <a:noFill/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" name="Google Shape;156;p6"/>
          <p:cNvCxnSpPr/>
          <p:nvPr/>
        </p:nvCxnSpPr>
        <p:spPr>
          <a:xfrm rot="10800000">
            <a:off x="7751062" y="523951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" name="Google Shape;157;p6"/>
          <p:cNvCxnSpPr/>
          <p:nvPr/>
        </p:nvCxnSpPr>
        <p:spPr>
          <a:xfrm rot="10800000">
            <a:off x="3983734" y="523951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14141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" name="Google Shape;158;p6"/>
          <p:cNvSpPr txBox="1"/>
          <p:nvPr/>
        </p:nvSpPr>
        <p:spPr>
          <a:xfrm>
            <a:off x="655350" y="6437221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ТЕМАТИЧЕСКИЙ АНАЛИЗ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Классические методы и структура данных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7"/>
          <p:cNvGraphicFramePr/>
          <p:nvPr/>
        </p:nvGraphicFramePr>
        <p:xfrm>
          <a:off x="777240" y="2395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{6E8990EF-6C83-4954-AC6C-93B44E6D8572}</a:tableStyleId>
              </a:tblPr>
              <a:tblGrid>
                <a:gridCol w="1691650"/>
                <a:gridCol w="2011675"/>
                <a:gridCol w="18745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Метод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Роль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Ограничение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0FE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7A0FE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Лексические признаки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Игнорирует контекст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0FE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7A0FE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LDA / NMF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Тематическая структура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Темы слабо различимы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0FE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7A0FE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Кластеризация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Группы диалогов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Чувствительна к шуму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7"/>
          <p:cNvSpPr/>
          <p:nvPr/>
        </p:nvSpPr>
        <p:spPr>
          <a:xfrm>
            <a:off x="777240" y="457200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Распределение coarse_topic_label (notebook 11)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4846320"/>
            <a:ext cx="576072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7"/>
          <p:cNvSpPr/>
          <p:nvPr/>
        </p:nvSpPr>
        <p:spPr>
          <a:xfrm>
            <a:off x="777240" y="6053328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Источник: notebook 11, parquet utterances, n=4722 (до дедупликации).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629400" y="2395728"/>
            <a:ext cx="1493520" cy="914400"/>
          </a:xfrm>
          <a:prstGeom prst="roundRect">
            <a:avLst>
              <a:gd fmla="val 8000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739128" y="2487168"/>
            <a:ext cx="1274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4297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702552" y="2944368"/>
            <a:ext cx="13472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реплик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8305800" y="2395728"/>
            <a:ext cx="1493520" cy="914400"/>
          </a:xfrm>
          <a:prstGeom prst="roundRect">
            <a:avLst>
              <a:gd fmla="val 8000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415528" y="2487168"/>
            <a:ext cx="1274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14 · 10 · 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8378952" y="2944368"/>
            <a:ext cx="13472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intent · topic · coarse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982200" y="2395728"/>
            <a:ext cx="1493520" cy="914400"/>
          </a:xfrm>
          <a:prstGeom prst="roundRect">
            <a:avLst>
              <a:gd fmla="val 8000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10091928" y="2487168"/>
            <a:ext cx="12740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425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10055352" y="2944368"/>
            <a:ext cx="13472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дублей убрано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6629400" y="35204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Разбиение train / val / test, n=4297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629400" y="3840480"/>
            <a:ext cx="3391409" cy="566928"/>
          </a:xfrm>
          <a:prstGeom prst="rect">
            <a:avLst/>
          </a:prstGeom>
          <a:solidFill>
            <a:srgbClr val="7A0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6629400" y="3840480"/>
            <a:ext cx="3391409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3007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10020809" y="3840480"/>
            <a:ext cx="727456" cy="566928"/>
          </a:xfrm>
          <a:prstGeom prst="rect">
            <a:avLst/>
          </a:prstGeom>
          <a:solidFill>
            <a:srgbClr val="9A4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10020809" y="3840480"/>
            <a:ext cx="7274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0748264" y="3840480"/>
            <a:ext cx="727456" cy="566928"/>
          </a:xfrm>
          <a:prstGeom prst="rect">
            <a:avLst/>
          </a:prstGeom>
          <a:solidFill>
            <a:srgbClr val="C77D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10748264" y="3840480"/>
            <a:ext cx="727456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629400" y="457200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13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Дедупликация по нормализованному тексту выполнена до разбиения: дубли между train/val/test отсутствуют.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629400" y="5257800"/>
            <a:ext cx="4846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Короткий контекст реплик ограничивает классические методы — отсюда переход к контекстным моделям.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ПЕРЕХОД К RUBERT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Почему контекстная модель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40080" y="2331720"/>
            <a:ext cx="5349240" cy="3703320"/>
          </a:xfrm>
          <a:prstGeom prst="roundRect">
            <a:avLst>
              <a:gd fmla="val 1975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60120" y="260604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Лексический подход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60120" y="3291840"/>
            <a:ext cx="4709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Опора на отдельные слова и частоты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Контекст реплики почти не учитывается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Близкие по смыслу фразы путаются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Лексики недостаточно для коротких реплик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5989320" y="2331720"/>
            <a:ext cx="393192" cy="3703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382512" y="2331720"/>
            <a:ext cx="5349240" cy="3703320"/>
          </a:xfrm>
          <a:prstGeom prst="roundRect">
            <a:avLst>
              <a:gd fmla="val 1975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702552" y="2606040"/>
            <a:ext cx="4709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RuBERT (предобученная модель)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702552" y="3291840"/>
            <a:ext cx="47091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1FB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Учитывает контекст и семантику реплики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AF1FB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Предобучен на больших текстах русского языка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AF1FB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Дообучается на задаче распознавания интентов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AF1FB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Выход: вероятности по 14 классам намерений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ЭКСПЕРИМЕНТАЛЬНАЯ СХЕМА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Как обучаем и что измеряем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640080" y="2377440"/>
            <a:ext cx="1574292" cy="914400"/>
          </a:xfrm>
          <a:prstGeom prst="roundRect">
            <a:avLst>
              <a:gd fmla="val 6000" name="adj"/>
            </a:avLst>
          </a:prstGeom>
          <a:solidFill>
            <a:srgbClr val="F4F0FB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640080" y="2377440"/>
            <a:ext cx="15742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Данные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2214372" y="2377440"/>
            <a:ext cx="292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2506980" y="2377440"/>
            <a:ext cx="1574292" cy="914400"/>
          </a:xfrm>
          <a:prstGeom prst="roundRect">
            <a:avLst>
              <a:gd fmla="val 6000" name="adj"/>
            </a:avLst>
          </a:prstGeom>
          <a:solidFill>
            <a:srgbClr val="F4F0FB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2506980" y="2377440"/>
            <a:ext cx="15742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081272" y="2377440"/>
            <a:ext cx="292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373880" y="2377440"/>
            <a:ext cx="1574292" cy="914400"/>
          </a:xfrm>
          <a:prstGeom prst="roundRect">
            <a:avLst>
              <a:gd fmla="val 6000" name="adj"/>
            </a:avLst>
          </a:prstGeom>
          <a:solidFill>
            <a:srgbClr val="F4F0FB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373880" y="2377440"/>
            <a:ext cx="15742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Обучение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948172" y="2377440"/>
            <a:ext cx="292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240780" y="2377440"/>
            <a:ext cx="1574292" cy="914400"/>
          </a:xfrm>
          <a:prstGeom prst="roundRect">
            <a:avLst>
              <a:gd fmla="val 6000" name="adj"/>
            </a:avLst>
          </a:prstGeom>
          <a:solidFill>
            <a:srgbClr val="F4F0FB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240780" y="2377440"/>
            <a:ext cx="15742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7815072" y="2377440"/>
            <a:ext cx="292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107680" y="2377440"/>
            <a:ext cx="1574292" cy="914400"/>
          </a:xfrm>
          <a:prstGeom prst="roundRect">
            <a:avLst>
              <a:gd fmla="val 6000" name="adj"/>
            </a:avLst>
          </a:prstGeom>
          <a:solidFill>
            <a:srgbClr val="F4F0FB"/>
          </a:solidFill>
          <a:ln cap="flat" cmpd="sng" w="12700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107680" y="2377440"/>
            <a:ext cx="15742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681972" y="2377440"/>
            <a:ext cx="29260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9974580" y="2377440"/>
            <a:ext cx="1574292" cy="914400"/>
          </a:xfrm>
          <a:prstGeom prst="roundRect">
            <a:avLst>
              <a:gd fmla="val 6000" name="adj"/>
            </a:avLst>
          </a:prstGeom>
          <a:solidFill>
            <a:srgbClr val="7A0FE0"/>
          </a:solidFill>
          <a:ln cap="flat" cmpd="sng" w="12700">
            <a:solidFill>
              <a:srgbClr val="7A0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9974580" y="2377440"/>
            <a:ext cx="15742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Метрики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40080" y="3456432"/>
            <a:ext cx="109087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Split после дедупликации: train 3007 · validation 645 · test 645 реплик.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640080" y="3767328"/>
            <a:ext cx="5349240" cy="1188720"/>
          </a:xfrm>
          <a:prstGeom prst="roundRect">
            <a:avLst>
              <a:gd fmla="val 6154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914400" y="396849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914400" y="4389120"/>
            <a:ext cx="4800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Классические лексические и тематические методы — точка отсчёта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199632" y="3767328"/>
            <a:ext cx="5349240" cy="1188720"/>
          </a:xfrm>
          <a:prstGeom prst="roundRect">
            <a:avLst>
              <a:gd fmla="val 6154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473952" y="3968496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Основная модель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6473952" y="4389120"/>
            <a:ext cx="4800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Дообученная RuBERT-модель распознавания интентов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40080" y="5138928"/>
            <a:ext cx="534924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587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14400" y="5321808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14400" y="5724144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Общая доля верных предсказаний по всем репликам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199632" y="5138928"/>
            <a:ext cx="534924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5875">
            <a:solidFill>
              <a:srgbClr val="1414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473952" y="5321808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Macro-F1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473952" y="5724144"/>
            <a:ext cx="4800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Среднее по классам — отражает качество на редких интентах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ИТОГОВЫЕ МЕТРИКИ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Качество модели распознавания интентов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10"/>
          <p:cNvGraphicFramePr/>
          <p:nvPr/>
        </p:nvGraphicFramePr>
        <p:xfrm>
          <a:off x="77724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{6E8990EF-6C83-4954-AC6C-93B44E6D8572}</a:tableStyleId>
              </a:tblPr>
              <a:tblGrid>
                <a:gridCol w="2743200"/>
                <a:gridCol w="15544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Метрика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Значение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0FE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A0FE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0.9054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Macro-F1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0FE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A0FE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Macro-F1 без other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0FE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A0FE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0.8066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Weighted-F1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A0FE0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7A0FE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0.9034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27000" marL="1270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</a:tbl>
          </a:graphicData>
        </a:graphic>
      </p:graphicFrame>
      <p:sp>
        <p:nvSpPr>
          <p:cNvPr id="250" name="Google Shape;250;p10"/>
          <p:cNvSpPr/>
          <p:nvPr/>
        </p:nvSpPr>
        <p:spPr>
          <a:xfrm>
            <a:off x="777240" y="5349240"/>
            <a:ext cx="4297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Single-task RuBERT — лучшая модель. </a:t>
            </a:r>
            <a:r>
              <a:rPr b="1" i="0" lang="en-US" sz="1250" u="none" cap="none" strike="noStrike">
                <a:solidFill>
                  <a:srgbClr val="0F7A55"/>
                </a:solidFill>
                <a:latin typeface="Calibri"/>
                <a:ea typeface="Calibri"/>
                <a:cs typeface="Calibri"/>
                <a:sym typeface="Calibri"/>
              </a:rPr>
              <a:t>Результат устойчив после дедупликации.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9240" y="2468880"/>
            <a:ext cx="61722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0"/>
          <p:cNvSpPr/>
          <p:nvPr/>
        </p:nvSpPr>
        <p:spPr>
          <a:xfrm>
            <a:off x="5349240" y="5760720"/>
            <a:ext cx="6172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Источник: notebook 11, тестовая выборка после дедупликации, n=645.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ОШИБКИ И ОГРАНИЧЕНИЯ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Честная оценка границ применимости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777240" y="2359152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Ограничения и как они учтены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11"/>
          <p:cNvGraphicFramePr/>
          <p:nvPr/>
        </p:nvGraphicFramePr>
        <p:xfrm>
          <a:off x="777240" y="269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{6E8990EF-6C83-4954-AC6C-93B44E6D8572}</a:tableStyleId>
              </a:tblPr>
              <a:tblGrid>
                <a:gridCol w="2468875"/>
                <a:gridCol w="3566150"/>
                <a:gridCol w="46634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Ограничение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Влияние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Как учтено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A0FE0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Дисбаланс классов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Разрыв accuracy и macro-F1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Отчёт по обеим метрикам; план балансировки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Редкие интенты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Ниже F1 на малых классах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Macro-F1 как контроль; работа с редкими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Topic-голова слабее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Темы хуже интентов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Итоговая схема — single-task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66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Переносимость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Метрики не переносятся напрямую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Внешняя валидация и дообучение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11"/>
          <p:cNvSpPr/>
          <p:nvPr/>
        </p:nvSpPr>
        <p:spPr>
          <a:xfrm>
            <a:off x="777240" y="5486400"/>
            <a:ext cx="10698480" cy="658368"/>
          </a:xfrm>
          <a:prstGeom prst="roundRect">
            <a:avLst>
              <a:gd fmla="val 8333" name="adj"/>
            </a:avLst>
          </a:prstGeom>
          <a:solidFill>
            <a:srgbClr val="EFE6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1005840" y="5486400"/>
            <a:ext cx="10241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7A0FE0"/>
                </a:solidFill>
                <a:latin typeface="Calibri"/>
                <a:ea typeface="Calibri"/>
                <a:cs typeface="Calibri"/>
                <a:sym typeface="Calibri"/>
              </a:rPr>
              <a:t>Контроль качества данных: 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полные текстовые дубли устранены до split — удалено 425 из 4722, итог 4297 реплик. </a:t>
            </a:r>
            <a:r>
              <a:rPr b="1" i="0" lang="en-US" sz="1150" u="none" cap="none" strike="noStrike">
                <a:solidFill>
                  <a:srgbClr val="0F7A55"/>
                </a:solidFill>
                <a:latin typeface="Calibri"/>
                <a:ea typeface="Calibri"/>
                <a:cs typeface="Calibri"/>
                <a:sym typeface="Calibri"/>
              </a:rPr>
              <a:t>Статус: выполнено, результат устойчив.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ПРАКТИЧЕСКАЯ РЕАЛИЗАЦИЯ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Веб-демо, API и развёртывание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40080" y="2377440"/>
            <a:ext cx="1947672" cy="1051560"/>
          </a:xfrm>
          <a:prstGeom prst="roundRect">
            <a:avLst>
              <a:gd fmla="val 5217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40080" y="2377440"/>
            <a:ext cx="1947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Текст / Аудио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2587752" y="2377440"/>
            <a:ext cx="29260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2880360" y="2377440"/>
            <a:ext cx="1947672" cy="1051560"/>
          </a:xfrm>
          <a:prstGeom prst="roundRect">
            <a:avLst>
              <a:gd fmla="val 5217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2880360" y="2377440"/>
            <a:ext cx="1947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Gradio 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faster-whisper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828032" y="2377440"/>
            <a:ext cx="29260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5120640" y="2377440"/>
            <a:ext cx="1947672" cy="1051560"/>
          </a:xfrm>
          <a:prstGeom prst="roundRect">
            <a:avLst>
              <a:gd fmla="val 5217" name="adj"/>
            </a:avLst>
          </a:prstGeom>
          <a:solidFill>
            <a:srgbClr val="7A0FE0"/>
          </a:solidFill>
          <a:ln cap="flat" cmpd="sng" w="12700">
            <a:solidFill>
              <a:srgbClr val="7A0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120640" y="2377440"/>
            <a:ext cx="1947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RuBERT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(интент)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7068312" y="2377440"/>
            <a:ext cx="29260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7360920" y="2377440"/>
            <a:ext cx="1947672" cy="1051560"/>
          </a:xfrm>
          <a:prstGeom prst="roundRect">
            <a:avLst>
              <a:gd fmla="val 5217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7360920" y="2377440"/>
            <a:ext cx="1947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ruT5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(суммаризация)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/>
          <p:nvPr/>
        </p:nvSpPr>
        <p:spPr>
          <a:xfrm>
            <a:off x="9308592" y="2377440"/>
            <a:ext cx="292608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9601200" y="2377440"/>
            <a:ext cx="1947672" cy="1051560"/>
          </a:xfrm>
          <a:prstGeom prst="roundRect">
            <a:avLst>
              <a:gd fmla="val 5217" name="adj"/>
            </a:avLst>
          </a:prstGeom>
          <a:solidFill>
            <a:srgbClr val="141414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9601200" y="2377440"/>
            <a:ext cx="194767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Результат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2"/>
          <p:cNvSpPr/>
          <p:nvPr/>
        </p:nvSpPr>
        <p:spPr>
          <a:xfrm>
            <a:off x="640080" y="3657600"/>
            <a:ext cx="5349240" cy="2331720"/>
          </a:xfrm>
          <a:prstGeom prst="roundRect">
            <a:avLst>
              <a:gd fmla="val 3137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914400" y="386791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Возможности демо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914400" y="4325112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Текстовый и голосовой ввод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Распознавание речи: faster-whisper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Определение интента: RuBERT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Суммаризация: IlyaGusev/rut5_base_sum_gazeta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REST API для текста и аудиофайла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6199632" y="3657600"/>
            <a:ext cx="5349240" cy="2331720"/>
          </a:xfrm>
          <a:prstGeom prst="roundRect">
            <a:avLst>
              <a:gd fmla="val 3137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6473952" y="386791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Инфраструктура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6473952" y="4325112"/>
            <a:ext cx="48463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1FB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Контейнеризация: Docker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F1FB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Обратный прокси: nginx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F1FB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Защищённое соединение: HTTPS / SSL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F1FB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Размещение: Yandex Cloud VM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F1FB"/>
              </a:buClr>
              <a:buSzPts val="1350"/>
              <a:buFont typeface="Calibri"/>
              <a:buChar char="–"/>
            </a:pPr>
            <a:r>
              <a:rPr b="0" i="0" lang="en-US" sz="1350" u="none" cap="none" strike="noStrike">
                <a:solidFill>
                  <a:srgbClr val="EAF1FB"/>
                </a:solidFill>
                <a:latin typeface="Calibri"/>
                <a:ea typeface="Calibri"/>
                <a:cs typeface="Calibri"/>
                <a:sym typeface="Calibri"/>
              </a:rPr>
              <a:t>Домен: intent-demo.online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https://intent-demo.online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777240" y="1627632"/>
            <a:ext cx="950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Демо и REST API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50" y="2102675"/>
            <a:ext cx="4039250" cy="410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2690" y="2102675"/>
            <a:ext cx="5950734" cy="41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3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ВКЛАД РАБОТЫ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Прикладной и методический результат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641605" y="2655463"/>
            <a:ext cx="3520500" cy="2084700"/>
          </a:xfrm>
          <a:prstGeom prst="roundRect">
            <a:avLst>
              <a:gd fmla="val 3509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41605" y="2655463"/>
            <a:ext cx="3520500" cy="548700"/>
          </a:xfrm>
          <a:prstGeom prst="roundRect">
            <a:avLst>
              <a:gd fmla="val 13333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641605" y="2929783"/>
            <a:ext cx="3520500" cy="274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870205" y="2655463"/>
            <a:ext cx="306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Методический вклад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842750" y="3313625"/>
            <a:ext cx="30633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Адаптация NLP-подходов к русскоязычным диалогам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Систематизация классических методов анализа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Обоснование перехода к контекстной модели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4335781" y="2655463"/>
            <a:ext cx="3520500" cy="2084700"/>
          </a:xfrm>
          <a:prstGeom prst="roundRect">
            <a:avLst>
              <a:gd fmla="val 3509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4335781" y="2655463"/>
            <a:ext cx="3520500" cy="548700"/>
          </a:xfrm>
          <a:prstGeom prst="roundRect">
            <a:avLst>
              <a:gd fmla="val 13333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335781" y="2929783"/>
            <a:ext cx="3520500" cy="274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564381" y="2655463"/>
            <a:ext cx="306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Экспериментальный вклад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591825" y="3313825"/>
            <a:ext cx="30174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Сравнение лексических методов и RuBERT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Корректный выбор метрик: accuracy и macro-F1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Анализ ошибок и ограничений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029957" y="2655463"/>
            <a:ext cx="3520500" cy="2084700"/>
          </a:xfrm>
          <a:prstGeom prst="roundRect">
            <a:avLst>
              <a:gd fmla="val 3509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8029957" y="2655463"/>
            <a:ext cx="3520500" cy="548700"/>
          </a:xfrm>
          <a:prstGeom prst="roundRect">
            <a:avLst>
              <a:gd fmla="val 13333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8029957" y="2929783"/>
            <a:ext cx="3520500" cy="274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8258557" y="2655463"/>
            <a:ext cx="306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Практический вклад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8286000" y="3313975"/>
            <a:ext cx="3017400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Воспроизводимый NLP-конвейер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Работающий прототип: демо и REST API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8000"/>
              </a:lnSpc>
              <a:spcBef>
                <a:spcPts val="70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Char char="–"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Развёртывание в облаке по HTTPS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6" name="Google Shape;326;p14"/>
          <p:cNvGraphicFramePr/>
          <p:nvPr/>
        </p:nvGraphicFramePr>
        <p:xfrm>
          <a:off x="641605" y="48500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{6E8990EF-6C83-4954-AC6C-93B44E6D8572}</a:tableStyleId>
              </a:tblPr>
              <a:tblGrid>
                <a:gridCol w="4544575"/>
                <a:gridCol w="3182100"/>
                <a:gridCol w="31821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Метрика (test, intent)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Single-task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Multi-task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0.9054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0.8930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Macro-F1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0.7794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0.7612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Macro-F1 без other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0.8066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0.7813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Weighted-F1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0.9034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0.8889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76200" marL="762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</a:tbl>
          </a:graphicData>
        </a:graphic>
      </p:graphicFrame>
      <p:sp>
        <p:nvSpPr>
          <p:cNvPr id="327" name="Google Shape;327;p14"/>
          <p:cNvSpPr/>
          <p:nvPr/>
        </p:nvSpPr>
        <p:spPr>
          <a:xfrm>
            <a:off x="641605" y="2088535"/>
            <a:ext cx="10908900" cy="457200"/>
          </a:xfrm>
          <a:prstGeom prst="roundRect">
            <a:avLst>
              <a:gd fmla="val 12000" name="adj"/>
            </a:avLst>
          </a:prstGeom>
          <a:solidFill>
            <a:srgbClr val="EAF1FB"/>
          </a:solidFill>
          <a:ln cap="flat" cmpd="sng" w="12700">
            <a:solidFill>
              <a:srgbClr val="7A0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4"/>
          <p:cNvSpPr/>
          <p:nvPr/>
        </p:nvSpPr>
        <p:spPr>
          <a:xfrm>
            <a:off x="915925" y="2088535"/>
            <a:ext cx="10424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Работа не заявляет новую архитектуру нейросети — вклад прикладной и методический.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ДАЛЬНЕЙШИЕ ШАГИ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План развития по горизонтам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640080" y="2331720"/>
            <a:ext cx="3520440" cy="3291840"/>
          </a:xfrm>
          <a:prstGeom prst="roundRect">
            <a:avLst>
              <a:gd fmla="val 2222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914400" y="2624328"/>
            <a:ext cx="2971800" cy="502920"/>
          </a:xfrm>
          <a:prstGeom prst="roundRect">
            <a:avLst>
              <a:gd fmla="val 10909" name="adj"/>
            </a:avLst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914400" y="262432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Краткосрочно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914400" y="338328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–"/>
            </a:pPr>
            <a:r>
              <a:rPr b="0" i="0" lang="en-US" sz="14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Усилить редкие классы интентов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–"/>
            </a:pPr>
            <a:r>
              <a:rPr b="0" i="0" lang="en-US" sz="14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Балансировка классов при обучении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4334256" y="2331720"/>
            <a:ext cx="3520440" cy="3291840"/>
          </a:xfrm>
          <a:prstGeom prst="roundRect">
            <a:avLst>
              <a:gd fmla="val 2222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4608576" y="2624328"/>
            <a:ext cx="2971800" cy="502920"/>
          </a:xfrm>
          <a:prstGeom prst="roundRect">
            <a:avLst>
              <a:gd fmla="val 10909" name="adj"/>
            </a:avLst>
          </a:prstGeom>
          <a:solidFill>
            <a:srgbClr val="7A0F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608576" y="262432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Среднесрочно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4608576" y="338328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–"/>
            </a:pPr>
            <a:r>
              <a:rPr b="0" i="0" lang="en-US" sz="14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Уточнить спорную разметку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–"/>
            </a:pPr>
            <a:r>
              <a:rPr b="0" i="0" lang="en-US" sz="14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Улучшить topic-голову модели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8028432" y="2331720"/>
            <a:ext cx="3520440" cy="3291840"/>
          </a:xfrm>
          <a:prstGeom prst="roundRect">
            <a:avLst>
              <a:gd fmla="val 2222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8302752" y="2624328"/>
            <a:ext cx="2971800" cy="502920"/>
          </a:xfrm>
          <a:prstGeom prst="roundRect">
            <a:avLst>
              <a:gd fmla="val 10909" name="adj"/>
            </a:avLst>
          </a:prstGeom>
          <a:solidFill>
            <a:srgbClr val="14141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302752" y="2624328"/>
            <a:ext cx="2971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Долгосрочно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8302752" y="338328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–"/>
            </a:pPr>
            <a:r>
              <a:rPr b="0" i="0" lang="en-US" sz="14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Внешняя валидация на другом корпусе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7931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450"/>
              <a:buFont typeface="Calibri"/>
              <a:buChar char="–"/>
            </a:pPr>
            <a:r>
              <a:rPr b="0" i="0" lang="en-US" sz="14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Оценить переносимость подхода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ВЫВОДЫ ПО ЗАДАЧАМ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Каждая задача выполнена и подтверждена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16"/>
          <p:cNvGraphicFramePr/>
          <p:nvPr/>
        </p:nvGraphicFramePr>
        <p:xfrm>
          <a:off x="64008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{6E8990EF-6C83-4954-AC6C-93B44E6D8572}</a:tableStyleId>
              </a:tblPr>
              <a:tblGrid>
                <a:gridCol w="3108950"/>
                <a:gridCol w="4114800"/>
                <a:gridCol w="36850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Задача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Результат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Подтверждение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Подготовить корпус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Корпус очищен и дедуплицирован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4297 реплик, dedup до split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Исследовать темы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Тематическая структура изучена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TF-IDF, LDA, NMF, UMAP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Сформировать интенты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Постановка на 14 классов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Multiclass classification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Обучить модель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Single-task RuBERT обучен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 0.9054 · Macro-F1 0.7794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  <a:tr h="6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Реализовать демо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Демо и REST API готовы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intent-demo.online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8" name="Google Shape;358;p16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7"/>
          <p:cNvSpPr/>
          <p:nvPr/>
        </p:nvSpPr>
        <p:spPr>
          <a:xfrm>
            <a:off x="548655" y="502920"/>
            <a:ext cx="110919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СПАСИБО ЗА ВНИМАНИЕ!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2438250" y="1561004"/>
            <a:ext cx="73155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C2F5"/>
              </a:buClr>
              <a:buSzPts val="1900"/>
              <a:buFont typeface="Calibri"/>
              <a:buNone/>
            </a:pPr>
            <a:r>
              <a:rPr b="0" i="0" lang="en-US" sz="2100" u="none" cap="none" strike="noStrike">
                <a:solidFill>
                  <a:srgbClr val="D9C2F5"/>
                </a:solidFill>
                <a:latin typeface="Calibri"/>
                <a:ea typeface="Calibri"/>
                <a:cs typeface="Calibri"/>
                <a:sym typeface="Calibri"/>
              </a:rPr>
              <a:t>Готов ответить на ваши вопросы</a:t>
            </a:r>
            <a:endParaRPr b="1" i="0" sz="1800" u="none" cap="none" strike="noStrike">
              <a:solidFill>
                <a:srgbClr val="D9B8F5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1828849" y="3063240"/>
            <a:ext cx="853157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user/workspace/assets/final_photo.png" id="366" name="Google Shape;3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61" y="3931920"/>
            <a:ext cx="2194561" cy="21945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user/workspace/assets/final_qr.png" id="367" name="Google Shape;3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10014" y="3977640"/>
            <a:ext cx="173736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7"/>
          <p:cNvSpPr/>
          <p:nvPr/>
        </p:nvSpPr>
        <p:spPr>
          <a:xfrm>
            <a:off x="8595589" y="5806440"/>
            <a:ext cx="356625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8E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9A8EA"/>
                </a:solidFill>
                <a:latin typeface="Calibri"/>
                <a:ea typeface="Calibri"/>
                <a:cs typeface="Calibri"/>
                <a:sym typeface="Calibri"/>
              </a:rPr>
              <a:t>Санкт-Петербург,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ОТВЕТЫ РЕЦЕНЗЕНТУ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Замечание и вопросы — по существу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6" name="Google Shape;376;p18"/>
          <p:cNvGraphicFramePr/>
          <p:nvPr/>
        </p:nvGraphicFramePr>
        <p:xfrm>
          <a:off x="64008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{6E8990EF-6C83-4954-AC6C-93B44E6D8572}</a:tableStyleId>
              </a:tblPr>
              <a:tblGrid>
                <a:gridCol w="3611875"/>
                <a:gridCol w="4023350"/>
                <a:gridCol w="32735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Замечание / вопрос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Ответ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Статус / результат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Дубликаты между split DialogSum-RU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Дедупликация по норм. тексту до split: удалено 425 из 4722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Выполнено: 4297 реплик; acc 0.9054 · macro-F1 0.7794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Как улучшить метрики?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Балансировка классов и работа с редкими интентами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balance, уточнение разметки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0FB"/>
                    </a:solidFill>
                  </a:tcPr>
                </a:tc>
              </a:tr>
              <a:tr h="868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Перенос на другой корпус?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Переносится конвейер, не сами метрики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>
                          <a:solidFill>
                            <a:srgbClr val="1A1A1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Внешняя валидация и дообучение</a:t>
                      </a:r>
                      <a:endParaRPr sz="14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D8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18"/>
          <p:cNvSpPr/>
          <p:nvPr/>
        </p:nvSpPr>
        <p:spPr>
          <a:xfrm>
            <a:off x="640080" y="5760720"/>
            <a:ext cx="10908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A5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F7A55"/>
                </a:solidFill>
                <a:latin typeface="Calibri"/>
                <a:ea typeface="Calibri"/>
                <a:cs typeface="Calibri"/>
                <a:sym typeface="Calibri"/>
              </a:rPr>
              <a:t>Рецензент оценил работу на «Отлично» — ключевое замечание о дубликатах уже отработано: дедупликация выполнена, результат устойчив.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"/>
          <p:cNvSpPr/>
          <p:nvPr/>
        </p:nvSpPr>
        <p:spPr>
          <a:xfrm>
            <a:off x="723900" y="532475"/>
            <a:ext cx="1074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0FE0"/>
              </a:buClr>
              <a:buSzPts val="1150"/>
              <a:buFont typeface="Calibri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ОТВЕТЫ РЕЦЕНЗЕНТУ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/>
          <p:nvPr/>
        </p:nvSpPr>
        <p:spPr>
          <a:xfrm>
            <a:off x="777240" y="16276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Переносимость результатов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11521455" y="6439895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b="0" i="0" lang="en-US" sz="24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9"/>
          <p:cNvSpPr/>
          <p:nvPr/>
        </p:nvSpPr>
        <p:spPr>
          <a:xfrm>
            <a:off x="640080" y="2331720"/>
            <a:ext cx="5349240" cy="3840480"/>
          </a:xfrm>
          <a:prstGeom prst="roundRect">
            <a:avLst>
              <a:gd fmla="val 1905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960120" y="2715768"/>
            <a:ext cx="164592" cy="164592"/>
          </a:xfrm>
          <a:prstGeom prst="ellipse">
            <a:avLst/>
          </a:prstGeom>
          <a:solidFill>
            <a:srgbClr val="0F7A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1234440" y="260604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Переносится лучше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/>
          <p:nvPr/>
        </p:nvSpPr>
        <p:spPr>
          <a:xfrm>
            <a:off x="960120" y="3246120"/>
            <a:ext cx="4709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Воспроизводимый NLP-конвейер обработки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Методика предобработки и оценки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Архитектура демо и API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6199632" y="2331720"/>
            <a:ext cx="5349240" cy="3840480"/>
          </a:xfrm>
          <a:prstGeom prst="roundRect">
            <a:avLst>
              <a:gd fmla="val 1905" name="adj"/>
            </a:avLst>
          </a:prstGeom>
          <a:solidFill>
            <a:srgbClr val="F4F0FB"/>
          </a:solidFill>
          <a:ln cap="flat" cmpd="sng" w="12700">
            <a:solidFill>
              <a:srgbClr val="E2D8F2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D1B4B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9"/>
          <p:cNvSpPr/>
          <p:nvPr/>
        </p:nvSpPr>
        <p:spPr>
          <a:xfrm>
            <a:off x="6519672" y="2715768"/>
            <a:ext cx="164592" cy="1645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9"/>
          <p:cNvSpPr/>
          <p:nvPr/>
        </p:nvSpPr>
        <p:spPr>
          <a:xfrm>
            <a:off x="6793992" y="260604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Требует проверки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/>
          <p:nvPr/>
        </p:nvSpPr>
        <p:spPr>
          <a:xfrm>
            <a:off x="6519672" y="3246120"/>
            <a:ext cx="47091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Конкретные метрики не переносятся напрямую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Схема интентов может отличаться в новом домене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Char char="–"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Нужна проверка домена и дообучение модели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 txBox="1"/>
          <p:nvPr/>
        </p:nvSpPr>
        <p:spPr>
          <a:xfrm>
            <a:off x="655350" y="6424450"/>
            <a:ext cx="108813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Семантический анализ русскоязычных диалогов для задачи распознавания намерений </a:t>
            </a:r>
            <a:r>
              <a:rPr b="0" i="1" lang="en-US" sz="10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с улучшением на базе предобученных моделей</a:t>
            </a:r>
            <a:endParaRPr b="1" i="0" sz="1000" u="none" cap="none" strike="noStrike">
              <a:solidFill>
                <a:srgbClr val="6B6B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